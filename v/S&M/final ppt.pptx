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Lato" panose="020F0802020204030203" pitchFamily="34" charset="0"/>
      <p:bold r:id="rId17"/>
    </p:embeddedFont>
    <p:embeddedFont>
      <p:font typeface="Lato" panose="020F0802020204030203" pitchFamily="34" charset="-122"/>
      <p:bold r:id="rId18"/>
    </p:embeddedFont>
    <p:embeddedFont>
      <p:font typeface="Lato" panose="020F0802020204030203" pitchFamily="34" charset="-12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34658774" name="Barsha Pandey" initials="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CE6"/>
    <a:srgbClr val="EEE4E2"/>
    <a:srgbClr val="EFE6E1"/>
    <a:srgbClr val="EAE0DE"/>
    <a:srgbClr val="F3E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4658774" dt="2025-08-06T08:18:04.217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1743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Directory Structures in Operating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75152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Single-Level, Two-Level &amp; Hierarchical Structures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54926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BSc CSIT – 4th Semester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a Directory?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74280" y="1862078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82824"/>
          </a:solidFill>
        </p:spPr>
      </p:sp>
      <p:sp>
        <p:nvSpPr>
          <p:cNvPr id="5" name="Text 2"/>
          <p:cNvSpPr/>
          <p:nvPr/>
        </p:nvSpPr>
        <p:spPr>
          <a:xfrm>
            <a:off x="7883366" y="1752481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Logical Container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883366" y="2280761"/>
            <a:ext cx="6033016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 virtual space for files.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74280" y="3132594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82824"/>
          </a:solidFill>
        </p:spPr>
      </p:sp>
      <p:sp>
        <p:nvSpPr>
          <p:cNvPr id="8" name="Text 5"/>
          <p:cNvSpPr/>
          <p:nvPr/>
        </p:nvSpPr>
        <p:spPr>
          <a:xfrm>
            <a:off x="7883366" y="3022997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Organisation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83366" y="3551277"/>
            <a:ext cx="6033016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Manages &amp; accesses files efficiently.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74280" y="4403110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82824"/>
          </a:solidFill>
        </p:spPr>
      </p:sp>
      <p:sp>
        <p:nvSpPr>
          <p:cNvPr id="11" name="Text 8"/>
          <p:cNvSpPr/>
          <p:nvPr/>
        </p:nvSpPr>
        <p:spPr>
          <a:xfrm>
            <a:off x="7883366" y="4293513"/>
            <a:ext cx="2577584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Folders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883366" y="4821793"/>
            <a:ext cx="6033016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Similar to familiar computer folders.</a:t>
            </a:r>
            <a:endParaRPr lang="en-US" sz="1600" dirty="0"/>
          </a:p>
        </p:txBody>
      </p:sp>
      <p:sp>
        <p:nvSpPr>
          <p:cNvPr id="13" name="Text Box 12"/>
          <p:cNvSpPr txBox="1"/>
          <p:nvPr/>
        </p:nvSpPr>
        <p:spPr>
          <a:xfrm>
            <a:off x="12890500" y="7649845"/>
            <a:ext cx="1720850" cy="579755"/>
          </a:xfrm>
          <a:prstGeom prst="rect">
            <a:avLst/>
          </a:prstGeom>
          <a:solidFill>
            <a:srgbClr val="EFECE6"/>
          </a:solidFill>
        </p:spPr>
        <p:txBody>
          <a:bodyPr vert="eaVert"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2798"/>
            <a:ext cx="786884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Use Directory Structures?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95205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591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Prevent Conflicts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49554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Avoid identical file names.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595205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5591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Faster Search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049554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Quickly locate files.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595205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5591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Efficient Organisation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049554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Manage millions of files.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79432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9433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Multi-User Support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433780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Accommodate many users.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979432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9433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Sharing &amp; Permissions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433780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Control file access.</a:t>
            </a:r>
            <a:endParaRPr lang="en-US" sz="1750" dirty="0"/>
          </a:p>
        </p:txBody>
      </p:sp>
      <p:sp>
        <p:nvSpPr>
          <p:cNvPr id="19" name="Text Box 18"/>
          <p:cNvSpPr txBox="1"/>
          <p:nvPr/>
        </p:nvSpPr>
        <p:spPr>
          <a:xfrm>
            <a:off x="12560935" y="7487920"/>
            <a:ext cx="1998980" cy="671830"/>
          </a:xfrm>
          <a:prstGeom prst="rect">
            <a:avLst/>
          </a:prstGeom>
          <a:solidFill>
            <a:srgbClr val="EFECE6"/>
          </a:solidFill>
        </p:spPr>
        <p:txBody>
          <a:bodyPr vert="eaVert"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610" y="390168"/>
            <a:ext cx="3547229" cy="443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Single-Level Directory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610" y="1188006"/>
            <a:ext cx="1773555" cy="221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610" y="1551503"/>
            <a:ext cx="664559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All files reside in </a:t>
            </a:r>
            <a:r>
              <a:rPr lang="en-US" sz="110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one central directory</a:t>
            </a: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610" y="1920359"/>
            <a:ext cx="1773555" cy="221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610" y="2283857"/>
            <a:ext cx="664559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Simple to implement.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610" y="2560558"/>
            <a:ext cx="664559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Ideal for tiny systems.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610" y="2929414"/>
            <a:ext cx="1773555" cy="221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Drawbacks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610" y="3292912"/>
            <a:ext cx="664559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File name clashes.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610" y="3569613"/>
            <a:ext cx="664559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Poor organisation as size grows.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5540" y="425450"/>
            <a:ext cx="7134860" cy="7804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322" y="375047"/>
            <a:ext cx="3409593" cy="4262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Two-Level Directory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7322" y="1142167"/>
            <a:ext cx="1704737" cy="213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7322" y="1491615"/>
            <a:ext cx="6671548" cy="218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A </a:t>
            </a:r>
            <a:r>
              <a:rPr lang="en-US" sz="105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separate directory for each user</a:t>
            </a:r>
            <a:r>
              <a:rPr lang="en-US" sz="10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7322" y="1846183"/>
            <a:ext cx="1704737" cy="213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7322" y="2195632"/>
            <a:ext cx="6671548" cy="218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No inter-user file name conflicts.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7322" y="2461498"/>
            <a:ext cx="6671548" cy="218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Better for multi-user systems than single-level.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7322" y="2816066"/>
            <a:ext cx="1704737" cy="213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322" y="3165515"/>
            <a:ext cx="6671548" cy="218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Users cannot organise files within their own directories.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9190" y="1159510"/>
            <a:ext cx="7141845" cy="697039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18690" y="8086368"/>
            <a:ext cx="6412468" cy="13094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819" y="361236"/>
            <a:ext cx="4194096" cy="410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Hierarchical (Tree) Directory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9819" y="1100138"/>
            <a:ext cx="1642348" cy="2051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9819" y="1436608"/>
            <a:ext cx="6695123" cy="210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Directories contain </a:t>
            </a:r>
            <a:r>
              <a:rPr lang="en-US" sz="100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sub-directories</a:t>
            </a: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, forming a </a:t>
            </a:r>
            <a:r>
              <a:rPr lang="en-US" sz="100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tree</a:t>
            </a: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structure.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9819" y="1778198"/>
            <a:ext cx="1642348" cy="2051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9819" y="2114669"/>
            <a:ext cx="6695123" cy="210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Highly flexible and organised.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9819" y="2370892"/>
            <a:ext cx="6695123" cy="210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Supports logical grouping (e.g., Documents, Music).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9819" y="2627114"/>
            <a:ext cx="6695123" cy="210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Unlimited levels of depth for superior organisation.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2840" y="1116330"/>
            <a:ext cx="7147560" cy="7147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07856" y="8057912"/>
            <a:ext cx="6445568" cy="1471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4878"/>
            <a:ext cx="817673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Directory Structure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7286"/>
            <a:ext cx="13042821" cy="3297317"/>
          </a:xfrm>
          <a:prstGeom prst="roundRect">
            <a:avLst>
              <a:gd name="adj" fmla="val 10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5490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8343" y="3198614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198614"/>
            <a:ext cx="253507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Single-Level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6706" y="3198614"/>
            <a:ext cx="253507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Two-Level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933033" y="3198614"/>
            <a:ext cx="266914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Tree (Hierarchical)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05225"/>
            <a:ext cx="13027581" cy="65793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28343" y="3848933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Simplicity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940379" y="3848933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Simple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6706" y="3848933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Moderate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933033" y="3848933"/>
            <a:ext cx="2669143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❌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Complex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363164"/>
            <a:ext cx="13027581" cy="65793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28343" y="4506873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File grouping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4506873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❌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No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6706" y="4506873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❌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No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933033" y="4506873"/>
            <a:ext cx="2669143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Yes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021104"/>
            <a:ext cx="13027581" cy="65793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28343" y="5164812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Name conflicts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40379" y="5164812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❌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Yes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6706" y="5164812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No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933033" y="5164812"/>
            <a:ext cx="2669143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No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679043"/>
            <a:ext cx="13027581" cy="65793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1028343" y="5822752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Multi-user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5822752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❌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No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936706" y="5822752"/>
            <a:ext cx="253507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Yes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933033" y="5822752"/>
            <a:ext cx="2669143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✅</a:t>
            </a: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 Yes</a:t>
            </a:r>
            <a:endParaRPr lang="en-US" sz="1750" dirty="0"/>
          </a:p>
        </p:txBody>
      </p:sp>
      <p:sp>
        <p:nvSpPr>
          <p:cNvPr id="29" name="Text Box 28"/>
          <p:cNvSpPr txBox="1"/>
          <p:nvPr/>
        </p:nvSpPr>
        <p:spPr>
          <a:xfrm>
            <a:off x="12388215" y="6990715"/>
            <a:ext cx="2183765" cy="1180465"/>
          </a:xfrm>
          <a:prstGeom prst="rect">
            <a:avLst/>
          </a:prstGeom>
          <a:solidFill>
            <a:srgbClr val="EFECE6"/>
          </a:solidFill>
        </p:spPr>
        <p:txBody>
          <a:bodyPr vert="eaVert"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7691"/>
            <a:ext cx="906482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Evolving Needs, Evolving Structures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70540"/>
            <a:ext cx="423422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27779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Early Systems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768215"/>
            <a:ext cx="378059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Simple needs, single-level was sufficient.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031" y="3030260"/>
            <a:ext cx="4234220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4845" y="393751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Multi-User Era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24845" y="4427934"/>
            <a:ext cx="378059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Two-level solved user conflicts.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2272" y="2690098"/>
            <a:ext cx="4234220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29086" y="359735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Modern Complexity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29086" y="4087773"/>
            <a:ext cx="378059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Hierarchical structures enable vast organisation.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975985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From basic file storage to complex data ecosystems, directory structures have adapted to meet the demands of modern computing, showcasing an ongoing evolution in operating system design.</a:t>
            </a:r>
            <a:endParaRPr lang="en-US" sz="1750" dirty="0"/>
          </a:p>
        </p:txBody>
      </p:sp>
      <p:sp>
        <p:nvSpPr>
          <p:cNvPr id="13" name="Text Box 12"/>
          <p:cNvSpPr txBox="1"/>
          <p:nvPr/>
        </p:nvSpPr>
        <p:spPr>
          <a:xfrm>
            <a:off x="12647930" y="6781800"/>
            <a:ext cx="1924050" cy="1389380"/>
          </a:xfrm>
          <a:prstGeom prst="rect">
            <a:avLst/>
          </a:prstGeom>
          <a:solidFill>
            <a:srgbClr val="EFECE6"/>
          </a:solidFill>
        </p:spPr>
        <p:txBody>
          <a:bodyPr vert="eaVert"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8391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5DFD2"/>
          </a:solidFill>
        </p:spPr>
      </p:sp>
      <p:sp>
        <p:nvSpPr>
          <p:cNvPr id="4" name="Shape 2"/>
          <p:cNvSpPr/>
          <p:nvPr/>
        </p:nvSpPr>
        <p:spPr>
          <a:xfrm>
            <a:off x="1020604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770" y="2744033"/>
            <a:ext cx="306110" cy="38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Organisation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992880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Structures are vital for file management.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368391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E5DFD2"/>
          </a:solidFill>
        </p:spPr>
      </p:sp>
      <p:sp>
        <p:nvSpPr>
          <p:cNvPr id="9" name="Shape 6"/>
          <p:cNvSpPr/>
          <p:nvPr/>
        </p:nvSpPr>
        <p:spPr>
          <a:xfrm>
            <a:off x="7655362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528" y="2744033"/>
            <a:ext cx="306110" cy="382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5024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Single-Level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992880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Simple but limited, prone to conflicts.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5DFD2"/>
          </a:solidFill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5185053"/>
            <a:ext cx="306110" cy="382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Two-Level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Multi-user support, lacks internal flexibility.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E5DFD2"/>
          </a:solidFill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528" y="5185053"/>
            <a:ext cx="306110" cy="3826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Tree Structure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anose="020F0802020204030203" pitchFamily="34" charset="0"/>
                <a:ea typeface="Lato" panose="020F0802020204030203" pitchFamily="34" charset="-122"/>
                <a:cs typeface="Lato" panose="020F0802020204030203" pitchFamily="34" charset="-120"/>
              </a:rPr>
              <a:t>Most flexible &amp; scalable, widely adopted.</a:t>
            </a:r>
            <a:endParaRPr lang="en-US" sz="1750" dirty="0"/>
          </a:p>
        </p:txBody>
      </p:sp>
      <p:sp>
        <p:nvSpPr>
          <p:cNvPr id="23" name="Text Box 22"/>
          <p:cNvSpPr txBox="1"/>
          <p:nvPr/>
        </p:nvSpPr>
        <p:spPr>
          <a:xfrm>
            <a:off x="12712065" y="7141210"/>
            <a:ext cx="1824990" cy="1064895"/>
          </a:xfrm>
          <a:prstGeom prst="rect">
            <a:avLst/>
          </a:prstGeom>
          <a:solidFill>
            <a:srgbClr val="EFECE6"/>
          </a:solidFill>
        </p:spPr>
        <p:txBody>
          <a:bodyPr vert="eaVert"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Presentation</Application>
  <PresentationFormat>On-screen Show (16:9)</PresentationFormat>
  <Paragraphs>164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Lato Bold</vt:lpstr>
      <vt:lpstr>Segoe Print</vt:lpstr>
      <vt:lpstr>Lato Bold</vt:lpstr>
      <vt:lpstr>Lato Bold</vt:lpstr>
      <vt:lpstr>Lato</vt:lpstr>
      <vt:lpstr>Lato</vt:lpstr>
      <vt:lpstr>Lato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Tahoma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Barsha Pandey</cp:lastModifiedBy>
  <cp:revision>3</cp:revision>
  <dcterms:created xsi:type="dcterms:W3CDTF">2025-08-06T02:21:00Z</dcterms:created>
  <dcterms:modified xsi:type="dcterms:W3CDTF">2025-08-06T02:44:31Z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73F2BD7E41B045DC9AF95513B7D9A870_13</vt:lpwstr>
  </property>
  <property fmtid="{D5CDD505-2E9C-101B-9397-08002B2CF9AE}" pid="3" name="KSOProductBuildVer">
    <vt:lpwstr>2057-12.2.0.22222</vt:lpwstr>
  </property>
</Properties>
</file>